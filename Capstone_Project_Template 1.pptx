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4"/>
  </p:sldMasterIdLst>
  <p:notesMasterIdLst>
    <p:notesMasterId r:id="rId17"/>
  </p:notesMasterIdLst>
  <p:sldIdLst>
    <p:sldId id="1300" r:id="rId5"/>
    <p:sldId id="1349" r:id="rId6"/>
    <p:sldId id="1291" r:id="rId7"/>
    <p:sldId id="1350" r:id="rId8"/>
    <p:sldId id="1351" r:id="rId9"/>
    <p:sldId id="1352" r:id="rId10"/>
    <p:sldId id="1353" r:id="rId11"/>
    <p:sldId id="1358" r:id="rId12"/>
    <p:sldId id="1354" r:id="rId13"/>
    <p:sldId id="1355" r:id="rId14"/>
    <p:sldId id="1356" r:id="rId15"/>
    <p:sldId id="1250" r:id="rId16"/>
  </p:sldIdLst>
  <p:sldSz cx="12192000" cy="6858000"/>
  <p:notesSz cx="6858000" cy="9144000"/>
  <p:custDataLst>
    <p:tags r:id="rId18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192" userDrawn="1">
          <p15:clr>
            <a:srgbClr val="A4A3A4"/>
          </p15:clr>
        </p15:guide>
        <p15:guide id="3" orient="horz" pos="1080" userDrawn="1">
          <p15:clr>
            <a:srgbClr val="A4A3A4"/>
          </p15:clr>
        </p15:guide>
      </p15:sldGuideLst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xmlns="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EFF"/>
    <a:srgbClr val="F9FFEB"/>
    <a:srgbClr val="EDFFC5"/>
    <a:srgbClr val="7FBA00"/>
    <a:srgbClr val="EBEEF9"/>
    <a:srgbClr val="213164"/>
    <a:srgbClr val="FED500"/>
    <a:srgbClr val="484F9E"/>
    <a:srgbClr val="F6AB1B"/>
    <a:srgbClr val="F7BA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B2772F-4E1E-9DC9-A5FD-949F4950CD36}" v="9" dt="2025-10-24T03:59:56.016"/>
    <p1510:client id="{A58C3A56-57CE-80D1-A901-D004512908F5}" v="48" dt="2025-10-23T12:09:57.8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1482"/>
  </p:normalViewPr>
  <p:slideViewPr>
    <p:cSldViewPr snapToGrid="0">
      <p:cViewPr varScale="1">
        <p:scale>
          <a:sx n="58" d="100"/>
          <a:sy n="58" d="100"/>
        </p:scale>
        <p:origin x="964" y="40"/>
      </p:cViewPr>
      <p:guideLst>
        <p:guide orient="horz" pos="792"/>
        <p:guide pos="192"/>
        <p:guide orient="horz" pos="1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2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26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2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20" Type="http://customschemas.google.com/relationships/presentationmetadata" Target="metadata"/><Relationship Id="rId22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22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vin Prajapati" userId="S::pravin@edunetfoundation.org::9f0ce95f-5aee-43b0-8285-2e8ab565fdaa" providerId="AD" clId="Web-{A58C3A56-57CE-80D1-A901-D004512908F5}"/>
    <pc:docChg chg="addSld delSld modSld">
      <pc:chgData name="Pravin Prajapati" userId="S::pravin@edunetfoundation.org::9f0ce95f-5aee-43b0-8285-2e8ab565fdaa" providerId="AD" clId="Web-{A58C3A56-57CE-80D1-A901-D004512908F5}" dt="2025-10-23T12:09:57.813" v="25" actId="20577"/>
      <pc:docMkLst>
        <pc:docMk/>
      </pc:docMkLst>
      <pc:sldChg chg="delSp">
        <pc:chgData name="Pravin Prajapati" userId="S::pravin@edunetfoundation.org::9f0ce95f-5aee-43b0-8285-2e8ab565fdaa" providerId="AD" clId="Web-{A58C3A56-57CE-80D1-A901-D004512908F5}" dt="2025-10-23T12:07:12.214" v="0"/>
        <pc:sldMkLst>
          <pc:docMk/>
          <pc:sldMk cId="2746043547" sldId="1291"/>
        </pc:sldMkLst>
        <pc:cxnChg chg="del">
          <ac:chgData name="Pravin Prajapati" userId="S::pravin@edunetfoundation.org::9f0ce95f-5aee-43b0-8285-2e8ab565fdaa" providerId="AD" clId="Web-{A58C3A56-57CE-80D1-A901-D004512908F5}" dt="2025-10-23T12:07:12.214" v="0"/>
          <ac:cxnSpMkLst>
            <pc:docMk/>
            <pc:sldMk cId="2746043547" sldId="1291"/>
            <ac:cxnSpMk id="12" creationId="{1365C893-2FDF-21FF-3B51-777D91501B7C}"/>
          </ac:cxnSpMkLst>
        </pc:cxnChg>
      </pc:sldChg>
      <pc:sldChg chg="new del">
        <pc:chgData name="Pravin Prajapati" userId="S::pravin@edunetfoundation.org::9f0ce95f-5aee-43b0-8285-2e8ab565fdaa" providerId="AD" clId="Web-{A58C3A56-57CE-80D1-A901-D004512908F5}" dt="2025-10-23T12:09:12.281" v="3"/>
        <pc:sldMkLst>
          <pc:docMk/>
          <pc:sldMk cId="912134332" sldId="1357"/>
        </pc:sldMkLst>
      </pc:sldChg>
      <pc:sldChg chg="modSp add replId">
        <pc:chgData name="Pravin Prajapati" userId="S::pravin@edunetfoundation.org::9f0ce95f-5aee-43b0-8285-2e8ab565fdaa" providerId="AD" clId="Web-{A58C3A56-57CE-80D1-A901-D004512908F5}" dt="2025-10-23T12:09:57.813" v="25" actId="20577"/>
        <pc:sldMkLst>
          <pc:docMk/>
          <pc:sldMk cId="668566840" sldId="1358"/>
        </pc:sldMkLst>
        <pc:spChg chg="mod">
          <ac:chgData name="Pravin Prajapati" userId="S::pravin@edunetfoundation.org::9f0ce95f-5aee-43b0-8285-2e8ab565fdaa" providerId="AD" clId="Web-{A58C3A56-57CE-80D1-A901-D004512908F5}" dt="2025-10-23T12:09:57.813" v="25" actId="20577"/>
          <ac:spMkLst>
            <pc:docMk/>
            <pc:sldMk cId="668566840" sldId="1358"/>
            <ac:spMk id="2" creationId="{20FF50A4-5ED8-3FB1-7BC6-C928C539FDC4}"/>
          </ac:spMkLst>
        </pc:spChg>
      </pc:sldChg>
    </pc:docChg>
  </pc:docChgLst>
  <pc:docChgLst>
    <pc:chgData name="Pravin Prajapati" userId="S::pravin@edunetfoundation.org::9f0ce95f-5aee-43b0-8285-2e8ab565fdaa" providerId="AD" clId="Web-{2DB2772F-4E1E-9DC9-A5FD-949F4950CD36}"/>
    <pc:docChg chg="modSld">
      <pc:chgData name="Pravin Prajapati" userId="S::pravin@edunetfoundation.org::9f0ce95f-5aee-43b0-8285-2e8ab565fdaa" providerId="AD" clId="Web-{2DB2772F-4E1E-9DC9-A5FD-949F4950CD36}" dt="2025-10-24T03:59:56.016" v="8" actId="1076"/>
      <pc:docMkLst>
        <pc:docMk/>
      </pc:docMkLst>
      <pc:sldChg chg="modSp">
        <pc:chgData name="Pravin Prajapati" userId="S::pravin@edunetfoundation.org::9f0ce95f-5aee-43b0-8285-2e8ab565fdaa" providerId="AD" clId="Web-{2DB2772F-4E1E-9DC9-A5FD-949F4950CD36}" dt="2025-10-24T03:59:56.016" v="8" actId="1076"/>
        <pc:sldMkLst>
          <pc:docMk/>
          <pc:sldMk cId="3544365122" sldId="1250"/>
        </pc:sldMkLst>
        <pc:spChg chg="mod">
          <ac:chgData name="Pravin Prajapati" userId="S::pravin@edunetfoundation.org::9f0ce95f-5aee-43b0-8285-2e8ab565fdaa" providerId="AD" clId="Web-{2DB2772F-4E1E-9DC9-A5FD-949F4950CD36}" dt="2025-10-24T03:59:56.016" v="8" actId="1076"/>
          <ac:spMkLst>
            <pc:docMk/>
            <pc:sldMk cId="3544365122" sldId="1250"/>
            <ac:spMk id="3" creationId="{0C30A77F-BE9B-73CB-CC7F-A1F8B5B87AB9}"/>
          </ac:spMkLst>
        </pc:spChg>
      </pc:sldChg>
      <pc:sldChg chg="delSp">
        <pc:chgData name="Pravin Prajapati" userId="S::pravin@edunetfoundation.org::9f0ce95f-5aee-43b0-8285-2e8ab565fdaa" providerId="AD" clId="Web-{2DB2772F-4E1E-9DC9-A5FD-949F4950CD36}" dt="2025-10-24T03:59:20.516" v="0"/>
        <pc:sldMkLst>
          <pc:docMk/>
          <pc:sldMk cId="4094747440" sldId="1350"/>
        </pc:sldMkLst>
        <pc:cxnChg chg="del">
          <ac:chgData name="Pravin Prajapati" userId="S::pravin@edunetfoundation.org::9f0ce95f-5aee-43b0-8285-2e8ab565fdaa" providerId="AD" clId="Web-{2DB2772F-4E1E-9DC9-A5FD-949F4950CD36}" dt="2025-10-24T03:59:20.516" v="0"/>
          <ac:cxnSpMkLst>
            <pc:docMk/>
            <pc:sldMk cId="4094747440" sldId="1350"/>
            <ac:cxnSpMk id="12" creationId="{C9D36B33-2DAC-4F13-4E60-E206B01FE04F}"/>
          </ac:cxnSpMkLst>
        </pc:cxnChg>
      </pc:sldChg>
      <pc:sldChg chg="delSp">
        <pc:chgData name="Pravin Prajapati" userId="S::pravin@edunetfoundation.org::9f0ce95f-5aee-43b0-8285-2e8ab565fdaa" providerId="AD" clId="Web-{2DB2772F-4E1E-9DC9-A5FD-949F4950CD36}" dt="2025-10-24T03:59:22.891" v="1"/>
        <pc:sldMkLst>
          <pc:docMk/>
          <pc:sldMk cId="3284349145" sldId="1351"/>
        </pc:sldMkLst>
        <pc:cxnChg chg="del">
          <ac:chgData name="Pravin Prajapati" userId="S::pravin@edunetfoundation.org::9f0ce95f-5aee-43b0-8285-2e8ab565fdaa" providerId="AD" clId="Web-{2DB2772F-4E1E-9DC9-A5FD-949F4950CD36}" dt="2025-10-24T03:59:22.891" v="1"/>
          <ac:cxnSpMkLst>
            <pc:docMk/>
            <pc:sldMk cId="3284349145" sldId="1351"/>
            <ac:cxnSpMk id="12" creationId="{A6FCDAF6-8CC4-501B-E7B6-453DC4924D09}"/>
          </ac:cxnSpMkLst>
        </pc:cxnChg>
      </pc:sldChg>
      <pc:sldChg chg="delSp">
        <pc:chgData name="Pravin Prajapati" userId="S::pravin@edunetfoundation.org::9f0ce95f-5aee-43b0-8285-2e8ab565fdaa" providerId="AD" clId="Web-{2DB2772F-4E1E-9DC9-A5FD-949F4950CD36}" dt="2025-10-24T03:59:25.813" v="2"/>
        <pc:sldMkLst>
          <pc:docMk/>
          <pc:sldMk cId="3937326058" sldId="1352"/>
        </pc:sldMkLst>
        <pc:cxnChg chg="del">
          <ac:chgData name="Pravin Prajapati" userId="S::pravin@edunetfoundation.org::9f0ce95f-5aee-43b0-8285-2e8ab565fdaa" providerId="AD" clId="Web-{2DB2772F-4E1E-9DC9-A5FD-949F4950CD36}" dt="2025-10-24T03:59:25.813" v="2"/>
          <ac:cxnSpMkLst>
            <pc:docMk/>
            <pc:sldMk cId="3937326058" sldId="1352"/>
            <ac:cxnSpMk id="12" creationId="{13C30159-1BB7-8E93-3ABC-73786A089387}"/>
          </ac:cxnSpMkLst>
        </pc:cxnChg>
      </pc:sldChg>
      <pc:sldChg chg="delSp">
        <pc:chgData name="Pravin Prajapati" userId="S::pravin@edunetfoundation.org::9f0ce95f-5aee-43b0-8285-2e8ab565fdaa" providerId="AD" clId="Web-{2DB2772F-4E1E-9DC9-A5FD-949F4950CD36}" dt="2025-10-24T03:59:28.766" v="3"/>
        <pc:sldMkLst>
          <pc:docMk/>
          <pc:sldMk cId="1247416098" sldId="1353"/>
        </pc:sldMkLst>
        <pc:cxnChg chg="del">
          <ac:chgData name="Pravin Prajapati" userId="S::pravin@edunetfoundation.org::9f0ce95f-5aee-43b0-8285-2e8ab565fdaa" providerId="AD" clId="Web-{2DB2772F-4E1E-9DC9-A5FD-949F4950CD36}" dt="2025-10-24T03:59:28.766" v="3"/>
          <ac:cxnSpMkLst>
            <pc:docMk/>
            <pc:sldMk cId="1247416098" sldId="1353"/>
            <ac:cxnSpMk id="12" creationId="{1ADAE0B2-C9ED-491C-8F68-0E6205CBB90D}"/>
          </ac:cxnSpMkLst>
        </pc:cxnChg>
      </pc:sldChg>
      <pc:sldChg chg="delSp">
        <pc:chgData name="Pravin Prajapati" userId="S::pravin@edunetfoundation.org::9f0ce95f-5aee-43b0-8285-2e8ab565fdaa" providerId="AD" clId="Web-{2DB2772F-4E1E-9DC9-A5FD-949F4950CD36}" dt="2025-10-24T03:59:37.797" v="5"/>
        <pc:sldMkLst>
          <pc:docMk/>
          <pc:sldMk cId="4151153574" sldId="1354"/>
        </pc:sldMkLst>
        <pc:cxnChg chg="del">
          <ac:chgData name="Pravin Prajapati" userId="S::pravin@edunetfoundation.org::9f0ce95f-5aee-43b0-8285-2e8ab565fdaa" providerId="AD" clId="Web-{2DB2772F-4E1E-9DC9-A5FD-949F4950CD36}" dt="2025-10-24T03:59:37.797" v="5"/>
          <ac:cxnSpMkLst>
            <pc:docMk/>
            <pc:sldMk cId="4151153574" sldId="1354"/>
            <ac:cxnSpMk id="12" creationId="{8683DCBC-7A8C-07A8-ECE3-2959C5777DBD}"/>
          </ac:cxnSpMkLst>
        </pc:cxnChg>
      </pc:sldChg>
      <pc:sldChg chg="delSp">
        <pc:chgData name="Pravin Prajapati" userId="S::pravin@edunetfoundation.org::9f0ce95f-5aee-43b0-8285-2e8ab565fdaa" providerId="AD" clId="Web-{2DB2772F-4E1E-9DC9-A5FD-949F4950CD36}" dt="2025-10-24T03:59:43.579" v="6"/>
        <pc:sldMkLst>
          <pc:docMk/>
          <pc:sldMk cId="154726197" sldId="1355"/>
        </pc:sldMkLst>
        <pc:cxnChg chg="del">
          <ac:chgData name="Pravin Prajapati" userId="S::pravin@edunetfoundation.org::9f0ce95f-5aee-43b0-8285-2e8ab565fdaa" providerId="AD" clId="Web-{2DB2772F-4E1E-9DC9-A5FD-949F4950CD36}" dt="2025-10-24T03:59:43.579" v="6"/>
          <ac:cxnSpMkLst>
            <pc:docMk/>
            <pc:sldMk cId="154726197" sldId="1355"/>
            <ac:cxnSpMk id="12" creationId="{205A772F-AA2F-0824-304C-1925559E5831}"/>
          </ac:cxnSpMkLst>
        </pc:cxnChg>
      </pc:sldChg>
      <pc:sldChg chg="delSp">
        <pc:chgData name="Pravin Prajapati" userId="S::pravin@edunetfoundation.org::9f0ce95f-5aee-43b0-8285-2e8ab565fdaa" providerId="AD" clId="Web-{2DB2772F-4E1E-9DC9-A5FD-949F4950CD36}" dt="2025-10-24T03:59:46.704" v="7"/>
        <pc:sldMkLst>
          <pc:docMk/>
          <pc:sldMk cId="459288522" sldId="1356"/>
        </pc:sldMkLst>
        <pc:cxnChg chg="del">
          <ac:chgData name="Pravin Prajapati" userId="S::pravin@edunetfoundation.org::9f0ce95f-5aee-43b0-8285-2e8ab565fdaa" providerId="AD" clId="Web-{2DB2772F-4E1E-9DC9-A5FD-949F4950CD36}" dt="2025-10-24T03:59:46.704" v="7"/>
          <ac:cxnSpMkLst>
            <pc:docMk/>
            <pc:sldMk cId="459288522" sldId="1356"/>
            <ac:cxnSpMk id="12" creationId="{0775EF88-7E4D-D10C-498C-A7D20A3B78E2}"/>
          </ac:cxnSpMkLst>
        </pc:cxnChg>
      </pc:sldChg>
      <pc:sldChg chg="delSp">
        <pc:chgData name="Pravin Prajapati" userId="S::pravin@edunetfoundation.org::9f0ce95f-5aee-43b0-8285-2e8ab565fdaa" providerId="AD" clId="Web-{2DB2772F-4E1E-9DC9-A5FD-949F4950CD36}" dt="2025-10-24T03:59:31.141" v="4"/>
        <pc:sldMkLst>
          <pc:docMk/>
          <pc:sldMk cId="668566840" sldId="1358"/>
        </pc:sldMkLst>
        <pc:cxnChg chg="del">
          <ac:chgData name="Pravin Prajapati" userId="S::pravin@edunetfoundation.org::9f0ce95f-5aee-43b0-8285-2e8ab565fdaa" providerId="AD" clId="Web-{2DB2772F-4E1E-9DC9-A5FD-949F4950CD36}" dt="2025-10-24T03:59:31.141" v="4"/>
          <ac:cxnSpMkLst>
            <pc:docMk/>
            <pc:sldMk cId="668566840" sldId="1358"/>
            <ac:cxnSpMk id="12" creationId="{A6C6BB3A-F3B9-0F2E-CC31-86B3D411AEC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0802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23E65BA-FB28-47C4-A217-44F00343302E}" type="slidenum">
              <a:rPr lang="en-US" sz="1400" b="0" strike="noStrike" spc="-1">
                <a:latin typeface="Times New Roman"/>
              </a:rPr>
              <a:t>1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197839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CD97FCEE-C2A8-37D5-A996-49BB545B3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975B8980-94AA-8A6F-430D-0494B7C176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6A7D6731-161F-2215-BDD4-38D7B762C4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442112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11089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CB634D27-F068-EBEB-8770-15B1970FD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3EC7E5E5-08B1-E327-1392-BDBF845246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962BD9A5-ADCC-1A80-1BEB-CABC569E0A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573199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CC7FEBF0-06E5-C2B8-032E-BD1140EC0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1C6BB7A9-64CC-4552-CA05-10714EF8D5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696E12A9-0FB9-1C33-EAD4-8BC34D67D7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801004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9912BB92-19C5-FEAF-8CF0-0A26FF157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D21BCEAF-EE14-3457-B94E-B4E055AD96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E33C037B-43A5-DBE4-60BB-7D8372DCD2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461397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605ABAFC-C9BD-AB1E-8A8A-9EDC55689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3CC989CB-9A3F-2F71-382B-9645325FE3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1EAE55A1-FB6B-6141-FCEA-50C1C0732E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74414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7E97757C-C9C8-D062-5A0A-E627466A2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5EFC4385-9F62-DE91-1C49-25EFFAA507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3177FAE6-75CC-FEF9-3CAC-8FE5239D67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973905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D4F84F44-6F11-41C0-2531-B2D840049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CFFEF418-B406-D0A7-8310-136EE4643B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C7A9698E-E051-C03D-505A-30B549F0D0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20600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D2949AFF-78D6-50DA-B607-940763F2C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7361DAE3-574F-2869-A475-53A418F0F3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4598F59E-E26E-B08C-63A5-3796B21899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340775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7839BF32-23F1-0514-1672-5AE4AB500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EF06C08A-200A-0E8C-55D0-5D4BC07B5F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C29C00B7-3928-D803-DCB2-F342254D8C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332779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spc="-5" dirty="0">
                <a:solidFill>
                  <a:srgbClr val="223366"/>
                </a:solidFill>
              </a:rPr>
              <a:t>Thank You !!</a:t>
            </a:r>
            <a:endParaRPr lang="en-US" sz="1100" b="1" spc="-5" dirty="0">
              <a:solidFill>
                <a:srgbClr val="22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420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4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878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266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58C18A-94E2-AE13-8B06-BA9F6BD6D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8089E-5BFA-40F0-B876-ADFE03496B7F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E892B4-0FB0-425D-7C43-06BB328A9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D29878-4D45-882F-621F-195E0CE49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3122C-94FD-45B7-812A-8C690DBDD3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534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180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282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44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93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587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1519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4195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842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0833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999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 userDrawn="1"/>
        </p:nvPicPr>
        <p:blipFill rotWithShape="1">
          <a:blip r:embed="rId17">
            <a:alphaModFix/>
          </a:blip>
          <a:srcRect/>
          <a:stretch/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153E6A6-60E4-FE14-1CBC-8CC211274D1C}"/>
              </a:ext>
            </a:extLst>
          </p:cNvPr>
          <p:cNvSpPr/>
          <p:nvPr userDrawn="1"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7CE881-772B-9023-3054-4B219B75D755}"/>
              </a:ext>
            </a:extLst>
          </p:cNvPr>
          <p:cNvSpPr/>
          <p:nvPr userDrawn="1"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 descr="A blue and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16A7B69A-9B14-87FE-841D-37F0A91D14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8">
            <a:alphaModFix amt="16000"/>
          </a:blip>
          <a:srcRect t="24724" r="1619" b="63695"/>
          <a:stretch/>
        </p:blipFill>
        <p:spPr>
          <a:xfrm>
            <a:off x="0" y="-1"/>
            <a:ext cx="9839325" cy="7239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7B91A16-5D54-2FC0-B0FD-A78085FC1313}"/>
              </a:ext>
            </a:extLst>
          </p:cNvPr>
          <p:cNvSpPr/>
          <p:nvPr userDrawn="1"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701" r:id="rId2"/>
    <p:sldLayoutId id="2147483714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erson sitting at a desk with a computer&#10;&#10;Description automatically generated">
            <a:extLst>
              <a:ext uri="{FF2B5EF4-FFF2-40B4-BE49-F238E27FC236}">
                <a16:creationId xmlns:a16="http://schemas.microsoft.com/office/drawing/2014/main" id="{02540B31-8123-24C6-B0F3-4444B51E94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" y="10160"/>
            <a:ext cx="12192000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B9AA95F-56F4-3F03-5804-8F7C6AFCE0BB}"/>
              </a:ext>
            </a:extLst>
          </p:cNvPr>
          <p:cNvSpPr/>
          <p:nvPr/>
        </p:nvSpPr>
        <p:spPr>
          <a:xfrm>
            <a:off x="8687544" y="584200"/>
            <a:ext cx="2110444" cy="977900"/>
          </a:xfrm>
          <a:prstGeom prst="roundRect">
            <a:avLst/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95316D-1E70-9E4D-C82D-DC6493EC4CED}"/>
              </a:ext>
            </a:extLst>
          </p:cNvPr>
          <p:cNvSpPr txBox="1"/>
          <p:nvPr/>
        </p:nvSpPr>
        <p:spPr>
          <a:xfrm>
            <a:off x="1878594" y="2146300"/>
            <a:ext cx="728011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Affordable Energy Saver</a:t>
            </a:r>
          </a:p>
        </p:txBody>
      </p:sp>
      <p:pic>
        <p:nvPicPr>
          <p:cNvPr id="19" name="Picture 18" descr="A close up of a logo&#10;&#10;Description automatically generated">
            <a:extLst>
              <a:ext uri="{FF2B5EF4-FFF2-40B4-BE49-F238E27FC236}">
                <a16:creationId xmlns:a16="http://schemas.microsoft.com/office/drawing/2014/main" id="{2A27540A-9E08-71C9-C49B-6AA04DE6EB1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1943" y="867733"/>
            <a:ext cx="1263157" cy="41083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BC3452E-282B-E1CE-1049-3451E4122F16}"/>
              </a:ext>
            </a:extLst>
          </p:cNvPr>
          <p:cNvSpPr txBox="1"/>
          <p:nvPr/>
        </p:nvSpPr>
        <p:spPr>
          <a:xfrm>
            <a:off x="4811059" y="3054580"/>
            <a:ext cx="6347011" cy="23909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Urvesh Rane</a:t>
            </a:r>
          </a:p>
          <a:p>
            <a:r>
              <a:rPr lang="en-IN" dirty="0">
                <a:solidFill>
                  <a:schemeClr val="bg1"/>
                </a:solidFill>
              </a:rPr>
              <a:t>Sumit Gurjar</a:t>
            </a:r>
          </a:p>
          <a:p>
            <a:r>
              <a:rPr lang="en-IN" sz="1850" dirty="0">
                <a:solidFill>
                  <a:schemeClr val="bg1"/>
                </a:solidFill>
              </a:rPr>
              <a:t>Swapnil </a:t>
            </a:r>
            <a:r>
              <a:rPr lang="en-IN" sz="1850" dirty="0" err="1">
                <a:solidFill>
                  <a:schemeClr val="bg1"/>
                </a:solidFill>
              </a:rPr>
              <a:t>Sthool</a:t>
            </a:r>
            <a:endParaRPr lang="en-IN" sz="1850" dirty="0">
              <a:solidFill>
                <a:schemeClr val="bg1"/>
              </a:solidFill>
            </a:endParaRPr>
          </a:p>
          <a:p>
            <a:r>
              <a:rPr lang="en-IN" sz="1850" dirty="0" err="1">
                <a:solidFill>
                  <a:schemeClr val="bg1"/>
                </a:solidFill>
              </a:rPr>
              <a:t>Sayyam</a:t>
            </a:r>
            <a:r>
              <a:rPr lang="en-IN" sz="1850" dirty="0">
                <a:solidFill>
                  <a:schemeClr val="bg1"/>
                </a:solidFill>
              </a:rPr>
              <a:t> Malvi </a:t>
            </a:r>
          </a:p>
          <a:p>
            <a:r>
              <a:rPr lang="en-IN" sz="1850" dirty="0">
                <a:solidFill>
                  <a:schemeClr val="bg1"/>
                </a:solidFill>
              </a:rPr>
              <a:t>Shaikh Shahid Hanif </a:t>
            </a:r>
          </a:p>
          <a:p>
            <a:r>
              <a:rPr lang="en-IN" dirty="0">
                <a:solidFill>
                  <a:schemeClr val="bg1"/>
                </a:solidFill>
              </a:rPr>
              <a:t>                                                          Mentor: </a:t>
            </a:r>
            <a:r>
              <a:rPr lang="en-IN" dirty="0" err="1">
                <a:solidFill>
                  <a:schemeClr val="bg1"/>
                </a:solidFill>
              </a:rPr>
              <a:t>Mr.Suraj</a:t>
            </a:r>
            <a:r>
              <a:rPr lang="en-IN" dirty="0">
                <a:solidFill>
                  <a:schemeClr val="bg1"/>
                </a:solidFill>
              </a:rPr>
              <a:t> Sir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College Name – Ajeenkya Dy Patil University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0950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982100C0-8C1F-4181-DD75-D87774F4B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5DF1CE7-F465-D81C-97B0-79E3F2480924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61;g5fab984687_2_0">
            <a:extLst>
              <a:ext uri="{FF2B5EF4-FFF2-40B4-BE49-F238E27FC236}">
                <a16:creationId xmlns:a16="http://schemas.microsoft.com/office/drawing/2014/main" id="{583006E0-F63C-4BA4-389D-C91A4075610B}"/>
              </a:ext>
            </a:extLst>
          </p:cNvPr>
          <p:cNvSpPr txBox="1">
            <a:spLocks noGrp="1"/>
          </p:cNvSpPr>
          <p:nvPr/>
        </p:nvSpPr>
        <p:spPr>
          <a:xfrm>
            <a:off x="407838" y="873305"/>
            <a:ext cx="5025142" cy="687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000" b="1">
                <a:solidFill>
                  <a:srgbClr val="213163"/>
                </a:solidFill>
              </a:rPr>
              <a:t>Project Objectives</a:t>
            </a:r>
            <a:endParaRPr lang="en-US" sz="2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4668EA-F609-4C8E-7E33-C8D4F3A31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1265" y="1124611"/>
            <a:ext cx="4602826" cy="4613712"/>
          </a:xfrm>
          <a:prstGeom prst="rect">
            <a:avLst/>
          </a:prstGeom>
        </p:spPr>
      </p:pic>
      <p:sp>
        <p:nvSpPr>
          <p:cNvPr id="8" name="Google Shape;62;g5fab984687_2_0">
            <a:extLst>
              <a:ext uri="{FF2B5EF4-FFF2-40B4-BE49-F238E27FC236}">
                <a16:creationId xmlns:a16="http://schemas.microsoft.com/office/drawing/2014/main" id="{761FE11B-F08F-EA24-6ECA-6D0A1BF1E903}"/>
              </a:ext>
            </a:extLst>
          </p:cNvPr>
          <p:cNvSpPr txBox="1"/>
          <p:nvPr/>
        </p:nvSpPr>
        <p:spPr>
          <a:xfrm>
            <a:off x="407838" y="1715981"/>
            <a:ext cx="5369163" cy="318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Problem Statement</a:t>
            </a:r>
            <a:endParaRPr lang="en-US" sz="1100"/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Project Overview – Introduction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End Users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Wow Factor in Project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Modelling/Block Diagram/Flow of Project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Result/outcomes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Conclusion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Future Perspective</a:t>
            </a:r>
          </a:p>
          <a:p>
            <a:pPr marL="182880" indent="-182880">
              <a:buFont typeface="Arial" panose="020B0604020202020204" pitchFamily="34" charset="0"/>
              <a:buChar char="•"/>
            </a:pP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442668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7AFAD5-578C-DC2D-F127-90FF4287354D}"/>
              </a:ext>
            </a:extLst>
          </p:cNvPr>
          <p:cNvSpPr txBox="1"/>
          <p:nvPr/>
        </p:nvSpPr>
        <p:spPr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>
                <a:solidFill>
                  <a:srgbClr val="213163"/>
                </a:solidFill>
              </a:rPr>
              <a:t>Problem Statement</a:t>
            </a:r>
            <a:endParaRPr lang="en-US" sz="18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7A0805-F1C4-ACA8-089E-E3EE08CF2C51}"/>
              </a:ext>
            </a:extLst>
          </p:cNvPr>
          <p:cNvSpPr txBox="1"/>
          <p:nvPr/>
        </p:nvSpPr>
        <p:spPr>
          <a:xfrm>
            <a:off x="202071" y="1915742"/>
            <a:ext cx="6217920" cy="3540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Standard battery indicators are "location-blind." They assume ideal lab conditions 25.C but in the real world: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Cold climates increase internal resistance, causing sudden voltage drops.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High humidity affects thermal dissipation and electronic efficiency.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Users currently have no way to know if their "50% battery" will last 5 hours or 50 minutes in a new environment.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37465B-968E-ED3D-8F01-59510A46D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840" y="1372647"/>
            <a:ext cx="5130800" cy="48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043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6CFA96E3-C7EB-55DF-2AA8-2936B30AF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BEBBBA-5CF4-5202-786C-054FC76F51FF}"/>
              </a:ext>
            </a:extLst>
          </p:cNvPr>
          <p:cNvSpPr txBox="1"/>
          <p:nvPr/>
        </p:nvSpPr>
        <p:spPr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>
                <a:solidFill>
                  <a:srgbClr val="213163"/>
                </a:solidFill>
              </a:rPr>
              <a:t>Project Overview - Introduction</a:t>
            </a:r>
            <a:endParaRPr lang="en-US" sz="18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5ADAFC-6AC9-92DE-F915-3D24CD352E19}"/>
              </a:ext>
            </a:extLst>
          </p:cNvPr>
          <p:cNvSpPr txBox="1"/>
          <p:nvPr/>
        </p:nvSpPr>
        <p:spPr>
          <a:xfrm rot="10800000" flipH="1" flipV="1">
            <a:off x="202071" y="1837659"/>
            <a:ext cx="716392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Beyond Simple Icons: Most devices show a basic battery percentage that doesn't change based on where you are.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The Python "Brain": We use Python and Machine Learning to create a smarter system that "thinks" about your environment.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Predicting the Unknown: When you move to a new location, the software predicts how the local weather will affect your battery.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Weather-Aware: It specifically looks at how temperature and humidity will drain your power faster or slower.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Honest Results: Instead of a guessing, it gives you an accurate "Time-to-Empty" countdown so you never run out of power unexpectedly.</a:t>
            </a:r>
            <a:endParaRPr lang="en-IN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77E1A0-FF72-52B8-35FE-551A7209A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440" y="843280"/>
            <a:ext cx="4734560" cy="5781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747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82ED5FB8-425A-4665-42F5-5CC706CCA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9B8291-8A2E-40AC-9C88-A70F47D7B60C}"/>
              </a:ext>
            </a:extLst>
          </p:cNvPr>
          <p:cNvSpPr txBox="1"/>
          <p:nvPr/>
        </p:nvSpPr>
        <p:spPr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>
                <a:solidFill>
                  <a:srgbClr val="213163"/>
                </a:solidFill>
              </a:rPr>
              <a:t>End Users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43CE3A-447F-20CA-8BD4-CE74E65E022D}"/>
              </a:ext>
            </a:extLst>
          </p:cNvPr>
          <p:cNvSpPr txBox="1"/>
          <p:nvPr/>
        </p:nvSpPr>
        <p:spPr>
          <a:xfrm>
            <a:off x="386080" y="2233544"/>
            <a:ext cx="5904091" cy="2965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Adventure Travelers &amp; Hikers: Ensuring GPS and emergency gear stays active in mountain/arctic climates.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Field Researchers: Scientists operating equipment in remote, high-humidity tropical zones.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Electric Vehicle (EV) Drivers: Predicting range more accurately when crossing different climate zones.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60E614-0865-E539-AD15-C5E8539F2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129" y="1372647"/>
            <a:ext cx="5511800" cy="483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349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83201705-0A2B-4BCF-297B-D9722E1CC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5BFC9B-AE6E-0231-F153-9FA6A53336DE}"/>
              </a:ext>
            </a:extLst>
          </p:cNvPr>
          <p:cNvSpPr txBox="1"/>
          <p:nvPr/>
        </p:nvSpPr>
        <p:spPr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>
                <a:solidFill>
                  <a:srgbClr val="213163"/>
                </a:solidFill>
              </a:rPr>
              <a:t>Wow Factors in Project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A5F46A-14D9-702C-3FAE-5B4A3A0136FA}"/>
              </a:ext>
            </a:extLst>
          </p:cNvPr>
          <p:cNvSpPr txBox="1"/>
          <p:nvPr/>
        </p:nvSpPr>
        <p:spPr>
          <a:xfrm>
            <a:off x="202071" y="1767840"/>
            <a:ext cx="5904091" cy="382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Smart Planning: To help people know exactly how long their battery will last when they move to a new place with different weather.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Weather-Proofing: To fix the problem where batteries die faster in the cold or heat than the screen says.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Real-Time Tracking: To build a small device that "watches" the temperature and humidity to give you a 100% honest battery update.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08F0AF-79A6-DE67-3CC9-5990BBC9DC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040" y="1070468"/>
            <a:ext cx="5516880" cy="471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326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2DA83078-77BF-8732-F35D-B5E0418E3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43A1D2-BA94-C28C-CC33-20F2A8CBF8E6}"/>
              </a:ext>
            </a:extLst>
          </p:cNvPr>
          <p:cNvSpPr txBox="1"/>
          <p:nvPr/>
        </p:nvSpPr>
        <p:spPr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>
                <a:solidFill>
                  <a:srgbClr val="213163"/>
                </a:solidFill>
              </a:rPr>
              <a:t>Modelling/Block Diagram/Flow of Project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29872F-ABBF-BD58-3B31-DC10CD350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20" y="1534160"/>
            <a:ext cx="10558780" cy="522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416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E99CD92D-A575-8307-4352-F0BA81EB2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FF50A4-5ED8-3FB1-7BC6-C928C539FDC4}"/>
              </a:ext>
            </a:extLst>
          </p:cNvPr>
          <p:cNvSpPr txBox="1"/>
          <p:nvPr/>
        </p:nvSpPr>
        <p:spPr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>
                <a:solidFill>
                  <a:srgbClr val="213163"/>
                </a:solidFill>
              </a:rPr>
              <a:t>Technology Stack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4C70E0E-A812-CAE0-2700-04A6D1E73E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4404123"/>
              </p:ext>
            </p:extLst>
          </p:nvPr>
        </p:nvGraphicFramePr>
        <p:xfrm>
          <a:off x="711200" y="2111278"/>
          <a:ext cx="10515600" cy="3129791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88568635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9120931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342900" indent="-342900" rtl="0">
                        <a:buFont typeface="Wingdings" panose="05000000000000000000" pitchFamily="2" charset="2"/>
                        <a:buChar char="Ø"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Category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Tools / Technologies Used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74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 rtl="0">
                        <a:buFont typeface="Wingdings" panose="05000000000000000000" pitchFamily="2" charset="2"/>
                        <a:buChar char="Ø"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Programming Language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Python</a:t>
                      </a: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(Core logic and data processing)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639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 rtl="0">
                        <a:buFont typeface="Wingdings" panose="05000000000000000000" pitchFamily="2" charset="2"/>
                        <a:buChar char="Ø"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Libraries (ML)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Scikit-learn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&amp; </a:t>
                      </a: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TensorFlow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(For the Regression Model)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1710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 rtl="0">
                        <a:buFont typeface="Wingdings" panose="05000000000000000000" pitchFamily="2" charset="2"/>
                        <a:buChar char="Ø"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Data Handling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Pandas</a:t>
                      </a: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&amp; </a:t>
                      </a: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NumPy</a:t>
                      </a: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(For dataset manipulation)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5944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 rtl="0">
                        <a:buFont typeface="Wingdings" panose="05000000000000000000" pitchFamily="2" charset="2"/>
                        <a:buChar char="Ø"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Visualization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Matplotlib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&amp; </a:t>
                      </a: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Seaborn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(For plotting energy trends)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4370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 rtl="0">
                        <a:buFont typeface="Wingdings" panose="05000000000000000000" pitchFamily="2" charset="2"/>
                        <a:buChar char="Ø"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Environment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Jupyter</a:t>
                      </a: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Notebook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&amp; </a:t>
                      </a: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VS Code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5637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 rtl="0">
                        <a:buFont typeface="Wingdings" panose="05000000000000000000" pitchFamily="2" charset="2"/>
                        <a:buChar char="Ø"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GUI (Optional)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Streamlit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or </a:t>
                      </a:r>
                      <a:r>
                        <a:rPr lang="en-US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Tkinter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(To display the prediction)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7145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8566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F514D052-F397-BC36-1052-36D19CF59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5B80B1-3B59-EA2F-68D8-475020EC920F}"/>
              </a:ext>
            </a:extLst>
          </p:cNvPr>
          <p:cNvSpPr txBox="1"/>
          <p:nvPr/>
        </p:nvSpPr>
        <p:spPr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>
                <a:solidFill>
                  <a:srgbClr val="213163"/>
                </a:solidFill>
              </a:rPr>
              <a:t>Result/Outcomes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83C3F5-D9A8-8F61-0E71-91422FB71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5000"/>
            <a:ext cx="12192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153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42F31CEF-5515-4F5D-1100-281FEB2D1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7B0A38-E51F-FAB3-43A3-E6F66F53FEEB}"/>
              </a:ext>
            </a:extLst>
          </p:cNvPr>
          <p:cNvSpPr txBox="1"/>
          <p:nvPr/>
        </p:nvSpPr>
        <p:spPr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>
                <a:solidFill>
                  <a:srgbClr val="213163"/>
                </a:solidFill>
              </a:rPr>
              <a:t>Conclusion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B314BB-0B33-FFC3-7BC9-24BA32C5150C}"/>
              </a:ext>
            </a:extLst>
          </p:cNvPr>
          <p:cNvSpPr txBox="1"/>
          <p:nvPr/>
        </p:nvSpPr>
        <p:spPr>
          <a:xfrm>
            <a:off x="629920" y="2052320"/>
            <a:ext cx="11176000" cy="4216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Bridging the Data Gap: This project successfully proves that battery life is not just about electrical capacity, but also about the environmental context of a new location.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Predictive Power: By using Python and Machine Learning, we have shifted from a "reactive" battery icon to a "proactive" energy forecast that accounts for temperature and humidity.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User Reliability: The ML model provides a dependable "Time-to-Empty" metric, significantly reducing the risk of unexpected device failure in unfamiliar climates.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Final Impact: We have created a software-based intelligence layer that empowers users to manage their energy resources with precision, regardless of geographical challenges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726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AD19869F-96B9-5203-AAF3-45AE6C4BE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0D9D66-F842-8A54-E13C-54231FFCB3A9}"/>
              </a:ext>
            </a:extLst>
          </p:cNvPr>
          <p:cNvSpPr txBox="1"/>
          <p:nvPr/>
        </p:nvSpPr>
        <p:spPr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>
                <a:solidFill>
                  <a:srgbClr val="213163"/>
                </a:solidFill>
              </a:rPr>
              <a:t>Future Perspective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29B8A0-7DE7-6BBD-D5A8-359F4D3FB98C}"/>
              </a:ext>
            </a:extLst>
          </p:cNvPr>
          <p:cNvSpPr txBox="1"/>
          <p:nvPr/>
        </p:nvSpPr>
        <p:spPr>
          <a:xfrm>
            <a:off x="355600" y="1981200"/>
            <a:ext cx="5273040" cy="2965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Cloud Crowdsourcing: Gathering battery performance data from users worldwide to create a global "Energy Map."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Wearable Integration: Shrinking the hardware to fit into smartwatches for hikers.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AI Refinement: Using Deep Learning to account for battery "State of Health" (SOH) as the battery ages over years.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6724A9-88AC-F454-89FF-886DB6625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891257"/>
            <a:ext cx="5979160" cy="5286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288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1;g5fab984687_2_0">
            <a:extLst>
              <a:ext uri="{FF2B5EF4-FFF2-40B4-BE49-F238E27FC236}">
                <a16:creationId xmlns:a16="http://schemas.microsoft.com/office/drawing/2014/main" id="{0C30A77F-BE9B-73CB-CC7F-A1F8B5B87AB9}"/>
              </a:ext>
            </a:extLst>
          </p:cNvPr>
          <p:cNvSpPr txBox="1">
            <a:spLocks/>
          </p:cNvSpPr>
          <p:nvPr/>
        </p:nvSpPr>
        <p:spPr>
          <a:xfrm>
            <a:off x="4315206" y="2934286"/>
            <a:ext cx="3561588" cy="98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5000" b="1">
                <a:solidFill>
                  <a:srgbClr val="213163"/>
                </a:solidFill>
              </a:rPr>
              <a:t>Thank You</a:t>
            </a:r>
            <a:endParaRPr lang="en-US" sz="50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24EE2A-26F4-0295-CBCA-94BA959FA1EC}"/>
              </a:ext>
            </a:extLst>
          </p:cNvPr>
          <p:cNvSpPr txBox="1"/>
          <p:nvPr/>
        </p:nvSpPr>
        <p:spPr>
          <a:xfrm>
            <a:off x="268077" y="4847422"/>
            <a:ext cx="5827923" cy="954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Git hub link:-https://github.com/Urvesh3206/Affordable-Energy-Saver-Smart-Grid-Energy-Demand-Prediction.git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43651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5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162bd5b-4ed9-4da3-b376-05204580ba3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5" ma:contentTypeDescription="Create a new document." ma:contentTypeScope="" ma:versionID="7670618c03e54fbae4a17ecb2d0ed10f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3d63de1c5a217044e31e0c8b260d3d71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706AB80-2608-47D7-8AC8-FA6BC8A9B27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6559A34-456E-49A1-8157-9E3D18BFAD36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D9E5D5E-A365-4A49-8140-C8CC82A61608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</TotalTime>
  <Words>641</Words>
  <Application>Microsoft Office PowerPoint</Application>
  <PresentationFormat>Widescreen</PresentationFormat>
  <Paragraphs>92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Arial Black</vt:lpstr>
      <vt:lpstr>Google Sans Text</vt:lpstr>
      <vt:lpstr>Times New Roman</vt:lpstr>
      <vt:lpstr>Wingdings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Moinudeen Syed</dc:creator>
  <cp:lastModifiedBy>Urvesh Rane</cp:lastModifiedBy>
  <cp:revision>12</cp:revision>
  <dcterms:modified xsi:type="dcterms:W3CDTF">2026-02-06T06:47:37Z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  <property fmtid="{D5CDD505-2E9C-101B-9397-08002B2CF9AE}" pid="3" name="ArticulateGUID">
    <vt:lpwstr>9933309E-0FFA-4A0C-99DC-6F95618B9D68</vt:lpwstr>
  </property>
  <property fmtid="{D5CDD505-2E9C-101B-9397-08002B2CF9AE}" pid="4" name="ArticulatePath">
    <vt:lpwstr>https://edunetfoundationorg-my.sharepoint.com/personal/kaisar_edunetfoundation_org/Documents/Beutified ppt/Microsoft Shell/Skills4Future/Temp</vt:lpwstr>
  </property>
</Properties>
</file>